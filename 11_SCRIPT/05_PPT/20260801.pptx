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Cost of Truth: Standing Firm in a World of Shadows</a:t>
            </a:r>
          </a:p>
        </p:txBody>
      </p:sp>
      <p:sp>
        <p:nvSpPr>
          <p:cNvPr id="3" name="TextBox 2"/>
          <p:cNvSpPr txBox="1"/>
          <p:nvPr/>
        </p:nvSpPr>
        <p:spPr>
          <a:xfrm>
            <a:off x="731520" y="1097280"/>
            <a:ext cx="7498079" cy="4572000"/>
          </a:xfrm>
          <a:prstGeom prst="rect">
            <a:avLst/>
          </a:prstGeom>
          <a:noFill/>
        </p:spPr>
        <p:txBody>
          <a:bodyPr wrap="none">
            <a:spAutoFit/>
          </a:bodyPr>
          <a:lstStyle/>
          <a:p>
            <a:pPr>
              <a:defRPr sz="2000"/>
            </a:pPr>
            <a:r>
              <a:t>To follow God is to walk a path of radical integrity that often invites the world's misunderstanding and persecution. Through the prophetic courage of Jeremiah and the tragic martyrdom of John the Baptist, we encounter the high cost of truth and the unwavering demand of Christ’s kingdom: to stand for the light, even when the darkness seems to prevail.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SCRIPTURE</a:t>
            </a:r>
          </a:p>
        </p:txBody>
      </p:sp>
      <p:sp>
        <p:nvSpPr>
          <p:cNvPr id="3" name="TextBox 2"/>
          <p:cNvSpPr txBox="1"/>
          <p:nvPr/>
        </p:nvSpPr>
        <p:spPr>
          <a:xfrm>
            <a:off x="731520" y="1097280"/>
            <a:ext cx="7498079" cy="4572000"/>
          </a:xfrm>
          <a:prstGeom prst="rect">
            <a:avLst/>
          </a:prstGeom>
          <a:noFill/>
        </p:spPr>
        <p:txBody>
          <a:bodyPr wrap="none">
            <a:spAutoFit/>
          </a:bodyPr>
          <a:lstStyle/>
          <a:p>
            <a:pPr>
              <a:defRPr sz="2000"/>
            </a:pPr>
            <a:r>
              <a:t>Reading I:</a:t>
            </a:r>
            <a:br/>
            <a:r>
              <a:t>Jer 26:11-16.24</a:t>
            </a:r>
            <a:br/>
            <a:br/>
            <a:r>
              <a:t>Gospel:</a:t>
            </a:r>
            <a:br/>
            <a:r>
              <a:t>Mt 14:1-12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THEME</a:t>
            </a:r>
          </a:p>
        </p:txBody>
      </p:sp>
      <p:sp>
        <p:nvSpPr>
          <p:cNvPr id="3" name="TextBox 2"/>
          <p:cNvSpPr txBox="1"/>
          <p:nvPr/>
        </p:nvSpPr>
        <p:spPr>
          <a:xfrm>
            <a:off x="731520" y="1097280"/>
            <a:ext cx="7498079" cy="4572000"/>
          </a:xfrm>
          <a:prstGeom prst="rect">
            <a:avLst/>
          </a:prstGeom>
          <a:noFill/>
        </p:spPr>
        <p:txBody>
          <a:bodyPr wrap="none">
            <a:spAutoFit/>
          </a:bodyPr>
          <a:lstStyle/>
          <a:p>
            <a:pPr>
              <a:defRPr sz="2000"/>
            </a:pPr>
            <a:r>
              <a:t>To follow God is to walk a path of radical integrity that often invites the world's misunderstanding and persecution. Through the prophetic courage of Jeremiah and the tragic martyrdom of John the Baptist, we encounter the high cost of truth and the unwavering demand of Christ’s kingdom: to stand for the light, even when the darkness seems to prevail.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HISTORICAL BACKGROUND</a:t>
            </a:r>
          </a:p>
        </p:txBody>
      </p:sp>
      <p:sp>
        <p:nvSpPr>
          <p:cNvPr id="3" name="TextBox 2"/>
          <p:cNvSpPr txBox="1"/>
          <p:nvPr/>
        </p:nvSpPr>
        <p:spPr>
          <a:xfrm>
            <a:off x="731520" y="1097280"/>
            <a:ext cx="7498079" cy="4572000"/>
          </a:xfrm>
          <a:prstGeom prst="rect">
            <a:avLst/>
          </a:prstGeom>
          <a:noFill/>
        </p:spPr>
        <p:txBody>
          <a:bodyPr wrap="none">
            <a:spAutoFit/>
          </a:bodyPr>
          <a:lstStyle/>
          <a:p>
            <a:pPr>
              <a:defRPr sz="2000"/>
            </a:pPr>
            <a:r>
              <a:t>During the reign of King Josiah and his successors, the prophets served as the "conscience of the nation." A prophet’s role was not to predict the future for entertainment, but to call Israel back to the Covenant. To speak God's truth often meant directly challenging the religious and political elite who profited from religious compromise.</a:t>
            </a:r>
            <a:br/>
            <a:br/>
            <a:r>
              <a:t>In the context of Herod Antipas, the political landscape of Galilee was marked by tension. Herod was a tetrarch, a client ruler under Rome, whose primary concern was maintaining stability and his own reputation. The death of John the Baptist—a desert ascetic and voice of moral reform—represents the collision between the transient power of earthly kingdoms and the eternal authority of God's kingdom.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SCRIPTURE MEDITATION</a:t>
            </a:r>
          </a:p>
        </p:txBody>
      </p:sp>
      <p:sp>
        <p:nvSpPr>
          <p:cNvPr id="3" name="TextBox 2"/>
          <p:cNvSpPr txBox="1"/>
          <p:nvPr/>
        </p:nvSpPr>
        <p:spPr>
          <a:xfrm>
            <a:off x="731520" y="1097280"/>
            <a:ext cx="7498079" cy="4572000"/>
          </a:xfrm>
          <a:prstGeom prst="rect">
            <a:avLst/>
          </a:prstGeom>
          <a:noFill/>
        </p:spPr>
        <p:txBody>
          <a:bodyPr wrap="none">
            <a:spAutoFit/>
          </a:bodyPr>
          <a:lstStyle/>
          <a:p>
            <a:pPr>
              <a:defRPr sz="2000"/>
            </a:pPr>
            <a:r>
              <a:t>(Imagine the sound of wind sweeping across the Judean desert, transitioning into the heavy, echoing silence of a palace hall.)</a:t>
            </a:r>
            <a:br/>
            <a:br/>
            <a:r>
              <a:t>The world is often a loud place, filled with voices that tell us what we want to hear, rather than what we need to hear. It tells us that compromise is peace. It tells us that silence is safety. It tells us that reputation is more important than righteousness.</a:t>
            </a:r>
            <a:br/>
            <a:br/>
            <a:r>
              <a:t>In today’s Scripture, we see the collision of two different worlds.</a:t>
            </a:r>
            <a:br/>
            <a:br/>
            <a:r>
              <a:t>First, we see the prophet Jeremiah. He stands before the leaders of Jerusalem, his voice steady despite the storm. He has delivered a word that is unpopular, a word that calls for conversion and repentance. The reaction is swift: condemnation. They label him a traitor. They see his devotion as a threat to the status quo. Yet, Jeremiah remains anchored. He knows that to speak for God is not to seek the approval of men, but to be faithful to the One who sent him.</a:t>
            </a:r>
            <a:br/>
            <a:br/>
            <a:r>
              <a:t>Then, we turn our gaze to the shadows of Herod’s banquet. We see a king caught in the trap of his own pride. In a moment of weakness, fueled by a foolish oath and the desire to save face before his guests, Herod orders the death of John the Baptist.</a:t>
            </a:r>
            <a:br/>
            <a:br/>
            <a:r>
              <a:t>John, the voice crying out in the wilderness, did not seek power. He did not seek a throne. He sought only to reveal the truth: that the king had married the wrong woman, violating the Law of God. John’s life was small in the eyes of the empire—a man in the desert, a prisoner in a dark cell—yet his life was monumental because it was lived entirely for the Truth.</a:t>
            </a:r>
            <a:br/>
            <a:br/>
            <a:r>
              <a:t>When we look at these two men, we see the shadow of a Third Man.</a:t>
            </a:r>
            <a:br/>
            <a:br/>
            <a:r>
              <a:t>Jeremiah’s prophetic cry and John’s martyr's death find their ultimate fulfillment in Jesus Christ. Jesus, too, spoke truths that the religious leaders could not stomach. Jesus, too, was led into a place of judgment to satisfy the expectations of an earthly court. Jesus, too, was executed not for a crime, but for being the Truth itself.</a:t>
            </a:r>
            <a:br/>
            <a:br/>
            <a:r>
              <a:t>Perhaps you feel like Jeremiah today—defending your faith in a workplace or a family that views your values as "outdated" or "extreme." Perhaps you feel like John—standing by what is right, even when it feels as though the world is winning and the "Herods" of this age are celebrating.</a:t>
            </a:r>
            <a:br/>
            <a:br/>
            <a:r>
              <a:t>Pause for a moment. Listen to the silence.</a:t>
            </a:r>
            <a:br/>
            <a:br/>
            <a:r>
              <a:t>In the stillness, Christ is looking at you. He does not ask for a life of easy comfort; He asks for a life of holy courage. He does not ask you to win the world's applause, but to be a witness to His light.</a:t>
            </a:r>
            <a:br/>
            <a:br/>
            <a:r>
              <a:t>(Short silence for reflection)</a:t>
            </a:r>
            <a:br/>
            <a:br/>
            <a:r>
              <a:t>Can you entrust your reputation to Him? Can you trust that even when the truth is unpopular, the Truth itself is holding you?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LIFE APPLICATION</a:t>
            </a:r>
          </a:p>
        </p:txBody>
      </p:sp>
      <p:sp>
        <p:nvSpPr>
          <p:cNvPr id="3" name="TextBox 2"/>
          <p:cNvSpPr txBox="1"/>
          <p:nvPr/>
        </p:nvSpPr>
        <p:spPr>
          <a:xfrm>
            <a:off x="731520" y="1097280"/>
            <a:ext cx="7498079" cy="4572000"/>
          </a:xfrm>
          <a:prstGeom prst="rect">
            <a:avLst/>
          </a:prstGeom>
          <a:noFill/>
        </p:spPr>
        <p:txBody>
          <a:bodyPr wrap="none">
            <a:spAutoFit/>
          </a:bodyPr>
          <a:lstStyle/>
          <a:p>
            <a:pPr>
              <a:defRPr sz="2000"/>
            </a:pPr>
            <a:r>
              <a:t>1. **Prioritize Divine Approval over Human Praise:** In your conversations and social circles, ask yourself: "Am I saying this to be liked, or am I standing for what is true and holy?"</a:t>
            </a:r>
            <a:br/>
            <a:r>
              <a:t>2. **Courage in Small Acts:** You may not be called to martyrdom, but you are called to "micro-witnesses"—refusing to participate in gossip, standing up for the marginalized, or being honest when it is inconvenient.</a:t>
            </a:r>
            <a:br/>
            <a:r>
              <a:t>3. **Trusting God in Unfairness:** When you experience injustice or feel misunderstood because of your faith, look to Christ. He understands the loneliness of being misunderstood by the world.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PRAYER</a:t>
            </a:r>
          </a:p>
        </p:txBody>
      </p:sp>
      <p:sp>
        <p:nvSpPr>
          <p:cNvPr id="3" name="TextBox 2"/>
          <p:cNvSpPr txBox="1"/>
          <p:nvPr/>
        </p:nvSpPr>
        <p:spPr>
          <a:xfrm>
            <a:off x="731520" y="1097280"/>
            <a:ext cx="7498079" cy="4572000"/>
          </a:xfrm>
          <a:prstGeom prst="rect">
            <a:avLst/>
          </a:prstGeom>
          <a:noFill/>
        </p:spPr>
        <p:txBody>
          <a:bodyPr wrap="none">
            <a:spAutoFit/>
          </a:bodyPr>
          <a:lstStyle/>
          <a:p>
            <a:pPr>
              <a:defRPr sz="2000"/>
            </a:pPr>
            <a:r>
              <a:t>Lord Jesus, You are the Way, the Truth, and the Life.</a:t>
            </a:r>
            <a:br/>
            <a:br/>
            <a:r>
              <a:t>We admit that we are often afraid. We fear the judgment of others. We fear being "canceled," being misunderstood, or being left alone. We are tempted to silence our conscience to keep the peace of the world.</a:t>
            </a:r>
            <a:br/>
            <a:br/>
            <a:r>
              <a:t>Grant us the spirit of Jeremiah—the courage to speak Your word even when it is difficult. Grant us the spirit of John—the strength to be a witness to Your holiness, regardless of the cost.</a:t>
            </a:r>
            <a:br/>
            <a:br/>
            <a:r>
              <a:t>When we feel the weight of the world's pressure, remind us that You have already conquered the world. Help us to live not for the fleeting applause of men, but for the eternal smile of our Father.</a:t>
            </a:r>
            <a:br/>
            <a:br/>
            <a:r>
              <a:t>Amen.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TAKEAWAYS</a:t>
            </a:r>
          </a:p>
        </p:txBody>
      </p:sp>
      <p:sp>
        <p:nvSpPr>
          <p:cNvPr id="3" name="TextBox 2"/>
          <p:cNvSpPr txBox="1"/>
          <p:nvPr/>
        </p:nvSpPr>
        <p:spPr>
          <a:xfrm>
            <a:off x="731520" y="1097280"/>
            <a:ext cx="7498079" cy="4572000"/>
          </a:xfrm>
          <a:prstGeom prst="rect">
            <a:avLst/>
          </a:prstGeom>
          <a:noFill/>
        </p:spPr>
        <p:txBody>
          <a:bodyPr wrap="none">
            <a:spAutoFit/>
          </a:bodyPr>
          <a:lstStyle/>
          <a:p>
            <a:pPr>
              <a:defRPr sz="2000"/>
            </a:pPr>
            <a:r>
              <a:t>* Truth is often unpopular, but it is the only foundation for lasting peace.</a:t>
            </a:r>
            <a:br/>
            <a:r>
              <a:t>* Our ultimate accountability is to God, not to the opinions of society.</a:t>
            </a:r>
            <a:br/>
            <a:r>
              <a:t>* Christ is the ultimate fulfillment of every prophet who stood for the Truth.</a:t>
            </a:r>
            <a:br/>
            <a:r>
              <a:t>* True strength is found in being faithful to God, even in moments of weakness.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